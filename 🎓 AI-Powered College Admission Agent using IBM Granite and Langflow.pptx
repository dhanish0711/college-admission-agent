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5" r:id="rId6"/>
    <p:sldId id="281" r:id="rId7"/>
    <p:sldId id="279" r:id="rId8"/>
    <p:sldId id="262" r:id="rId9"/>
    <p:sldId id="264" r:id="rId10"/>
    <p:sldId id="278" r:id="rId11"/>
    <p:sldId id="286" r:id="rId12"/>
    <p:sldId id="277" r:id="rId13"/>
    <p:sldId id="28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86"/>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6" r:id="rId6"/>
    <p:sldLayoutId id="2147483657" r:id="rId7"/>
    <p:sldLayoutId id="2147483658" r:id="rId8"/>
    <p:sldLayoutId id="214748365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dhanish0711/College-Admission-Agent"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105707003"/>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sz="1800" dirty="0"/>
                        <a:t>Dhanish Ladwani</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dhanishladwani@gmail.com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8014110111</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830997"/>
          </a:xfrm>
          <a:prstGeom prst="rect">
            <a:avLst/>
          </a:prstGeom>
          <a:noFill/>
        </p:spPr>
        <p:txBody>
          <a:bodyPr wrap="square" rtlCol="0">
            <a:spAutoFit/>
          </a:bodyPr>
          <a:lstStyle/>
          <a:p>
            <a:r>
              <a:rPr lang="en-US" sz="2400" b="1" dirty="0"/>
              <a:t>Domain of  Project – </a:t>
            </a:r>
            <a:r>
              <a:rPr lang="en-IN" sz="2400" dirty="0">
                <a:highlight>
                  <a:srgbClr val="FFFF00"/>
                </a:highlight>
              </a:rPr>
              <a:t>Artificial Intelligence &amp; Education Technology (EdTech)</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830997"/>
          </a:xfrm>
          <a:prstGeom prst="rect">
            <a:avLst/>
          </a:prstGeom>
          <a:noFill/>
        </p:spPr>
        <p:txBody>
          <a:bodyPr wrap="square" rtlCol="0">
            <a:spAutoFit/>
          </a:bodyPr>
          <a:lstStyle/>
          <a:p>
            <a:r>
              <a:rPr lang="en-US" sz="2400" b="1" dirty="0"/>
              <a:t>Project Title – </a:t>
            </a:r>
            <a:r>
              <a:rPr lang="en-IN" sz="2400" dirty="0">
                <a:highlight>
                  <a:srgbClr val="FFFF00"/>
                </a:highlight>
              </a:rPr>
              <a:t>🎓 AI-Powered College Admission Agent using IBM Granite and </a:t>
            </a:r>
            <a:r>
              <a:rPr lang="en-IN" sz="2400" dirty="0" err="1">
                <a:highlight>
                  <a:srgbClr val="FFFF00"/>
                </a:highlight>
              </a:rPr>
              <a:t>Langflow</a:t>
            </a:r>
            <a:endParaRPr lang="en-IN" sz="2400" b="1" dirty="0">
              <a:highlight>
                <a:srgbClr val="FFFF00"/>
              </a:highlight>
            </a:endParaRPr>
          </a:p>
        </p:txBody>
      </p:sp>
      <p:pic>
        <p:nvPicPr>
          <p:cNvPr id="3" name="Picture 2">
            <a:extLst>
              <a:ext uri="{FF2B5EF4-FFF2-40B4-BE49-F238E27FC236}">
                <a16:creationId xmlns:a16="http://schemas.microsoft.com/office/drawing/2014/main" id="{6EF74E48-CA6C-C999-AC4B-E0CC2D71F556}"/>
              </a:ext>
            </a:extLst>
          </p:cNvPr>
          <p:cNvPicPr>
            <a:picLocks noChangeAspect="1"/>
          </p:cNvPicPr>
          <p:nvPr/>
        </p:nvPicPr>
        <p:blipFill>
          <a:blip r:embed="rId3"/>
          <a:stretch>
            <a:fillRect/>
          </a:stretch>
        </p:blipFill>
        <p:spPr>
          <a:xfrm>
            <a:off x="3901932" y="3582649"/>
            <a:ext cx="1407629" cy="118479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78313"/>
          </a:xfrm>
          <a:prstGeom prst="rect">
            <a:avLst/>
          </a:prstGeom>
          <a:noFill/>
        </p:spPr>
        <p:txBody>
          <a:bodyPr wrap="square" rtlCol="0">
            <a:spAutoFit/>
          </a:bodyPr>
          <a:lstStyle/>
          <a:p>
            <a:r>
              <a:rPr lang="en-IN" sz="1800" b="1" dirty="0"/>
              <a:t>🎯 Problem Statement</a:t>
            </a:r>
          </a:p>
          <a:p>
            <a:r>
              <a:rPr lang="en-IN" sz="1800" b="1" dirty="0"/>
              <a:t>AI-Powered College Admission Agent using RAG and IBM Granite</a:t>
            </a:r>
          </a:p>
          <a:p>
            <a:r>
              <a:rPr lang="en-IN" sz="1800" dirty="0"/>
              <a:t>Educational institutions receive thousands of admission-related queries from students regarding eligibility criteria, fee structures, scholarships, hostel facilities, placements, admission deadlines, and application procedures. Traditional admission support systems often rely on manual responses, static websites, or helplines, which can lead to delayed communication, inconsistent information, and increased administrative workload.</a:t>
            </a:r>
          </a:p>
          <a:p>
            <a:r>
              <a:rPr lang="en-IN" sz="1800" dirty="0"/>
              <a:t>To solve this problem, the proposed project develops an AI-Powered College Admission Agent using Retrieval-Augmented Generation (RAG), IBM Granite, and </a:t>
            </a:r>
            <a:r>
              <a:rPr lang="en-IN" sz="1800" dirty="0" err="1"/>
              <a:t>Langflow</a:t>
            </a:r>
            <a:r>
              <a:rPr lang="en-IN" sz="1800" dirty="0"/>
              <a:t>. The system retrieves relevant information from institutional documents and official admission resources, then generates accurate and context-aware responses to student queries in real time.</a:t>
            </a:r>
          </a:p>
          <a:p>
            <a:r>
              <a:rPr lang="en-IN" sz="1800" dirty="0"/>
              <a:t>The chatbot allows prospective students to interact using natural language and instantly receive reliable guidance related to admissions, courses, fees, eligibility, scholarships, and campus facilities. By combining document retrieval with generative AI, the system improves transparency, accessibility, efficiency, and overall student experience while reducing the burden on admission departments.</a:t>
            </a:r>
          </a:p>
          <a:p>
            <a:r>
              <a:rPr lang="en-IN" sz="1800" dirty="0"/>
              <a:t>The project is implemented using IBM Cloud Lite services, IBM watsonx.ai, IBM Granite foundation models, </a:t>
            </a:r>
            <a:r>
              <a:rPr lang="en-IN" sz="1800" dirty="0" err="1"/>
              <a:t>Langflow</a:t>
            </a:r>
            <a:r>
              <a:rPr lang="en-IN" sz="1800" dirty="0"/>
              <a:t>, Flask, HTML, CSS, and JavaScript to create an intelligent and user-friendly admission support platform.</a:t>
            </a: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4924425"/>
          </a:xfrm>
          <a:prstGeom prst="rect">
            <a:avLst/>
          </a:prstGeom>
          <a:noFill/>
        </p:spPr>
        <p:txBody>
          <a:bodyPr wrap="square" rtlCol="0">
            <a:spAutoFit/>
          </a:bodyPr>
          <a:lstStyle/>
          <a:p>
            <a:r>
              <a:rPr lang="en-IN" sz="2000" b="1" dirty="0"/>
              <a:t>💻 Technologies Used</a:t>
            </a:r>
          </a:p>
          <a:p>
            <a:r>
              <a:rPr lang="en-IN" sz="2000" b="1" dirty="0"/>
              <a:t>🔹 Frontend</a:t>
            </a:r>
          </a:p>
          <a:p>
            <a:r>
              <a:rPr lang="en-IN" sz="2000" dirty="0"/>
              <a:t>HTML5 </a:t>
            </a:r>
          </a:p>
          <a:p>
            <a:r>
              <a:rPr lang="en-IN" sz="2000" dirty="0"/>
              <a:t>CSS3 </a:t>
            </a:r>
          </a:p>
          <a:p>
            <a:r>
              <a:rPr lang="en-IN" sz="2000" dirty="0"/>
              <a:t>JavaScript </a:t>
            </a:r>
          </a:p>
          <a:p>
            <a:r>
              <a:rPr lang="en-IN" sz="2000" b="1" dirty="0"/>
              <a:t>🔹 Backend</a:t>
            </a:r>
          </a:p>
          <a:p>
            <a:r>
              <a:rPr lang="en-IN" sz="2000" dirty="0"/>
              <a:t>Python </a:t>
            </a:r>
          </a:p>
          <a:p>
            <a:r>
              <a:rPr lang="en-IN" sz="2000" dirty="0"/>
              <a:t>Flask Framework </a:t>
            </a:r>
          </a:p>
          <a:p>
            <a:r>
              <a:rPr lang="en-IN" sz="2000" b="1" dirty="0"/>
              <a:t>🔹 AI &amp; RAG Technologies</a:t>
            </a:r>
          </a:p>
          <a:p>
            <a:r>
              <a:rPr lang="en-IN" sz="2000" dirty="0"/>
              <a:t>IBM watsonx.ai </a:t>
            </a:r>
          </a:p>
          <a:p>
            <a:r>
              <a:rPr lang="en-IN" sz="2000" dirty="0"/>
              <a:t>IBM Granite Models </a:t>
            </a:r>
          </a:p>
          <a:p>
            <a:r>
              <a:rPr lang="en-IN" sz="2000" dirty="0"/>
              <a:t>Retrieval-Augmented Generation (RAG) </a:t>
            </a:r>
          </a:p>
          <a:p>
            <a:r>
              <a:rPr lang="en-IN" sz="2000" dirty="0" err="1"/>
              <a:t>Langflow</a:t>
            </a:r>
            <a:r>
              <a:rPr lang="en-IN" sz="2000" dirty="0"/>
              <a:t> </a:t>
            </a:r>
          </a:p>
          <a:p>
            <a:r>
              <a:rPr lang="en-IN" sz="2000" b="1" dirty="0"/>
              <a:t>🔹 Cloud Platform</a:t>
            </a:r>
          </a:p>
          <a:p>
            <a:r>
              <a:rPr lang="en-IN" sz="2000" dirty="0"/>
              <a:t>IBM Cloud Lite </a:t>
            </a:r>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170646"/>
          </a:xfrm>
          <a:prstGeom prst="rect">
            <a:avLst/>
          </a:prstGeom>
          <a:noFill/>
        </p:spPr>
        <p:txBody>
          <a:bodyPr wrap="square" rtlCol="0">
            <a:spAutoFit/>
          </a:bodyPr>
          <a:lstStyle/>
          <a:p>
            <a:r>
              <a:rPr lang="en-IN" sz="1500" b="1" dirty="0"/>
              <a:t>💡 Proposed Solution</a:t>
            </a:r>
          </a:p>
          <a:p>
            <a:r>
              <a:rPr lang="en-IN" sz="1500" b="1" dirty="0" err="1"/>
              <a:t>LangFlow</a:t>
            </a:r>
            <a:r>
              <a:rPr lang="en-IN" sz="1500" b="1" dirty="0"/>
              <a:t> + IBM watsonx.ai + Granite Models</a:t>
            </a:r>
          </a:p>
          <a:p>
            <a:r>
              <a:rPr lang="en-IN" sz="1500" dirty="0"/>
              <a:t>The proposed system is an AI-powered College Admission Agent developed using Retrieval-Augmented Generation (RAG) technology to provide accurate and real-time admission assistance to students. The solution integrates IBM Granite foundation models through IBM watsonx.ai with </a:t>
            </a:r>
            <a:r>
              <a:rPr lang="en-IN" sz="1500" dirty="0" err="1"/>
              <a:t>Langflow</a:t>
            </a:r>
            <a:r>
              <a:rPr lang="en-IN" sz="1500" dirty="0"/>
              <a:t>-based orchestration to create an intelligent conversational chatbot.</a:t>
            </a:r>
          </a:p>
          <a:p>
            <a:r>
              <a:rPr lang="en-IN" sz="1500" dirty="0"/>
              <a:t>The system retrieves information from uploaded institutional documents such as admission brochures, fee structures, scholarship details, placement records, and hostel policies. Using RAG architecture, the chatbot combines document retrieval with generative AI capabilities to generate context-aware and reliable responses to user queries.</a:t>
            </a:r>
          </a:p>
          <a:p>
            <a:r>
              <a:rPr lang="en-IN" sz="1500" dirty="0"/>
              <a:t>The proposed solution includes:</a:t>
            </a:r>
          </a:p>
          <a:p>
            <a:pPr marL="285750" indent="-285750">
              <a:buFont typeface="Arial" panose="020B0604020202020204" pitchFamily="34" charset="0"/>
              <a:buChar char="•"/>
            </a:pPr>
            <a:r>
              <a:rPr lang="en-IN" sz="1500" dirty="0"/>
              <a:t>AI-powered admission chatbot </a:t>
            </a:r>
          </a:p>
          <a:p>
            <a:pPr marL="285750" indent="-285750">
              <a:buFont typeface="Arial" panose="020B0604020202020204" pitchFamily="34" charset="0"/>
              <a:buChar char="•"/>
            </a:pPr>
            <a:r>
              <a:rPr lang="en-IN" sz="1500" dirty="0"/>
              <a:t>Real-time question answering system </a:t>
            </a:r>
          </a:p>
          <a:p>
            <a:pPr marL="285750" indent="-285750">
              <a:buFont typeface="Arial" panose="020B0604020202020204" pitchFamily="34" charset="0"/>
              <a:buChar char="•"/>
            </a:pPr>
            <a:r>
              <a:rPr lang="en-IN" sz="1500" dirty="0"/>
              <a:t>Document-based information retrieval </a:t>
            </a:r>
          </a:p>
          <a:p>
            <a:pPr marL="285750" indent="-285750">
              <a:buFont typeface="Arial" panose="020B0604020202020204" pitchFamily="34" charset="0"/>
              <a:buChar char="•"/>
            </a:pPr>
            <a:r>
              <a:rPr lang="en-IN" sz="1500" dirty="0"/>
              <a:t>Eligibility checking module </a:t>
            </a:r>
          </a:p>
          <a:p>
            <a:pPr marL="285750" indent="-285750">
              <a:buFont typeface="Arial" panose="020B0604020202020204" pitchFamily="34" charset="0"/>
              <a:buChar char="•"/>
            </a:pPr>
            <a:r>
              <a:rPr lang="en-IN" sz="1500" dirty="0"/>
              <a:t>Fee structure and deadline assistance </a:t>
            </a:r>
          </a:p>
          <a:p>
            <a:pPr marL="285750" indent="-285750">
              <a:buFont typeface="Arial" panose="020B0604020202020204" pitchFamily="34" charset="0"/>
              <a:buChar char="•"/>
            </a:pPr>
            <a:r>
              <a:rPr lang="en-IN" sz="1500" dirty="0"/>
              <a:t>Scholarship and placement guidance </a:t>
            </a:r>
          </a:p>
          <a:p>
            <a:pPr marL="285750" indent="-285750">
              <a:buFont typeface="Arial" panose="020B0604020202020204" pitchFamily="34" charset="0"/>
              <a:buChar char="•"/>
            </a:pPr>
            <a:r>
              <a:rPr lang="en-IN" sz="1500" dirty="0"/>
              <a:t>Interactive and responsive web interface </a:t>
            </a:r>
          </a:p>
          <a:p>
            <a:r>
              <a:rPr lang="en-IN" sz="1500" dirty="0"/>
              <a:t>The frontend is developed using HTML, CSS, and JavaScript, while Flask is used as the backend server for handling API communication between the user interface and </a:t>
            </a:r>
            <a:r>
              <a:rPr lang="en-IN" sz="1500" dirty="0" err="1"/>
              <a:t>Langflow</a:t>
            </a:r>
            <a:r>
              <a:rPr lang="en-IN" sz="1500" dirty="0"/>
              <a:t> pipeline. IBM Granite models process user queries and generate intelligent responses based on institutional knowledge data.</a:t>
            </a:r>
          </a:p>
          <a:p>
            <a:r>
              <a:rPr lang="en-IN" sz="1500" dirty="0"/>
              <a:t>This solution improves accessibility, reduces manual admission inquiries, enhances response accuracy, and provides a seamless admission support experience for prospective students.</a:t>
            </a: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537590" y="1012954"/>
            <a:ext cx="8823960" cy="5509200"/>
          </a:xfrm>
          <a:prstGeom prst="rect">
            <a:avLst/>
          </a:prstGeom>
          <a:noFill/>
        </p:spPr>
        <p:txBody>
          <a:bodyPr wrap="square" rtlCol="0">
            <a:spAutoFit/>
          </a:bodyPr>
          <a:lstStyle/>
          <a:p>
            <a:endParaRPr lang="en-US" sz="1600" dirty="0"/>
          </a:p>
          <a:p>
            <a:r>
              <a:rPr lang="en-IN" sz="1600" b="1" dirty="0"/>
              <a:t>1) Chat Input</a:t>
            </a:r>
          </a:p>
          <a:p>
            <a:r>
              <a:rPr lang="en-IN" sz="1600" dirty="0"/>
              <a:t>Interface where users enter admission-related queries such as fees, eligibility, scholarships, hostel facilities, placements, and deadlines.</a:t>
            </a:r>
          </a:p>
          <a:p>
            <a:r>
              <a:rPr lang="en-IN" sz="1600" b="1" dirty="0"/>
              <a:t>2) IBM watsonx.ai Agent</a:t>
            </a:r>
          </a:p>
          <a:p>
            <a:r>
              <a:rPr lang="en-IN" sz="1600" dirty="0"/>
              <a:t>Processes user queries using IBM Granite foundation models to generate intelligent, accurate, and context-aware responses.</a:t>
            </a:r>
          </a:p>
          <a:p>
            <a:r>
              <a:rPr lang="en-IN" sz="1600" b="1" dirty="0"/>
              <a:t>3) IBM Granite Model</a:t>
            </a:r>
          </a:p>
          <a:p>
            <a:r>
              <a:rPr lang="en-IN" sz="1600" b="1" dirty="0"/>
              <a:t>Granite-3.3-8B-Instruct</a:t>
            </a:r>
            <a:r>
              <a:rPr lang="en-IN" sz="1600" dirty="0"/>
              <a:t> — Used for natural language understanding and real-time AI-generated admission assistance.</a:t>
            </a:r>
          </a:p>
          <a:p>
            <a:r>
              <a:rPr lang="en-IN" sz="1600" b="1" dirty="0"/>
              <a:t>4) Chat Output</a:t>
            </a:r>
          </a:p>
          <a:p>
            <a:r>
              <a:rPr lang="en-IN" sz="1600" dirty="0"/>
              <a:t>Displays AI-generated responses including admission guidance, eligibility information, fee details, scholarship support, and other student-related assistance.</a:t>
            </a:r>
          </a:p>
          <a:p>
            <a:r>
              <a:rPr lang="en-IN" sz="1600" b="1" dirty="0"/>
              <a:t>5) Read File Component</a:t>
            </a:r>
          </a:p>
          <a:p>
            <a:r>
              <a:rPr lang="en-IN" sz="1600" dirty="0"/>
              <a:t>Loads and retrieves institutional PDF documents such as admission brochures, fee structures, hostel policies, and scholarship details for knowledge retrieval.</a:t>
            </a:r>
          </a:p>
          <a:p>
            <a:r>
              <a:rPr lang="en-IN" sz="1600" b="1" dirty="0"/>
              <a:t>6) Prompt Template</a:t>
            </a:r>
          </a:p>
          <a:p>
            <a:r>
              <a:rPr lang="en-IN" sz="1600" dirty="0"/>
              <a:t>Formats user queries and document context into structured prompts before sending them to the IBM Granite model for response generation.</a:t>
            </a:r>
          </a:p>
          <a:p>
            <a:r>
              <a:rPr lang="en-IN" sz="1600" b="1" dirty="0"/>
              <a:t>7) </a:t>
            </a:r>
            <a:r>
              <a:rPr lang="en-IN" sz="1600" b="1" dirty="0" err="1"/>
              <a:t>Langflow</a:t>
            </a:r>
            <a:r>
              <a:rPr lang="en-IN" sz="1600" b="1" dirty="0"/>
              <a:t> Pipeline</a:t>
            </a:r>
          </a:p>
          <a:p>
            <a:r>
              <a:rPr lang="en-IN" sz="1600" dirty="0"/>
              <a:t>Manages the complete RAG workflow by connecting document retrieval, prompt handling, IBM Granite processing, and chatbot response generation.</a:t>
            </a:r>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0" y="0"/>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5" name="Picture 4">
            <a:extLst>
              <a:ext uri="{FF2B5EF4-FFF2-40B4-BE49-F238E27FC236}">
                <a16:creationId xmlns:a16="http://schemas.microsoft.com/office/drawing/2014/main" id="{0CB868C3-0D75-60C3-E001-8045D225DAFF}"/>
              </a:ext>
            </a:extLst>
          </p:cNvPr>
          <p:cNvPicPr>
            <a:picLocks noChangeAspect="1"/>
          </p:cNvPicPr>
          <p:nvPr/>
        </p:nvPicPr>
        <p:blipFill>
          <a:blip r:embed="rId3"/>
          <a:stretch>
            <a:fillRect/>
          </a:stretch>
        </p:blipFill>
        <p:spPr>
          <a:xfrm>
            <a:off x="487894" y="555557"/>
            <a:ext cx="11216212" cy="6302443"/>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92828" y="0"/>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pic>
        <p:nvPicPr>
          <p:cNvPr id="8" name="Picture 7">
            <a:extLst>
              <a:ext uri="{FF2B5EF4-FFF2-40B4-BE49-F238E27FC236}">
                <a16:creationId xmlns:a16="http://schemas.microsoft.com/office/drawing/2014/main" id="{834B72BE-5366-2C9E-52AA-07D6EB180315}"/>
              </a:ext>
            </a:extLst>
          </p:cNvPr>
          <p:cNvPicPr>
            <a:picLocks noChangeAspect="1"/>
          </p:cNvPicPr>
          <p:nvPr/>
        </p:nvPicPr>
        <p:blipFill>
          <a:blip r:embed="rId3"/>
          <a:stretch>
            <a:fillRect/>
          </a:stretch>
        </p:blipFill>
        <p:spPr>
          <a:xfrm>
            <a:off x="1842173" y="5428980"/>
            <a:ext cx="8507654" cy="1429020"/>
          </a:xfrm>
          <a:prstGeom prst="rect">
            <a:avLst/>
          </a:prstGeom>
        </p:spPr>
      </p:pic>
      <p:pic>
        <p:nvPicPr>
          <p:cNvPr id="10" name="Picture 9">
            <a:extLst>
              <a:ext uri="{FF2B5EF4-FFF2-40B4-BE49-F238E27FC236}">
                <a16:creationId xmlns:a16="http://schemas.microsoft.com/office/drawing/2014/main" id="{BE3F279B-EA74-B4AF-DB3A-11CE9424B428}"/>
              </a:ext>
            </a:extLst>
          </p:cNvPr>
          <p:cNvPicPr>
            <a:picLocks noChangeAspect="1"/>
          </p:cNvPicPr>
          <p:nvPr/>
        </p:nvPicPr>
        <p:blipFill>
          <a:blip r:embed="rId4"/>
          <a:stretch>
            <a:fillRect/>
          </a:stretch>
        </p:blipFill>
        <p:spPr>
          <a:xfrm>
            <a:off x="1979743" y="448508"/>
            <a:ext cx="8044028" cy="503389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475488" y="881489"/>
            <a:ext cx="7406640" cy="5863144"/>
          </a:xfrm>
          <a:prstGeom prst="rect">
            <a:avLst/>
          </a:prstGeom>
          <a:noFill/>
        </p:spPr>
        <p:txBody>
          <a:bodyPr wrap="square" rtlCol="0">
            <a:spAutoFit/>
          </a:bodyPr>
          <a:lstStyle/>
          <a:p>
            <a:r>
              <a:rPr lang="en-IN" sz="1500" b="1" dirty="0"/>
              <a:t>Role of Agentic AI in College Admission Agent</a:t>
            </a:r>
          </a:p>
          <a:p>
            <a:r>
              <a:rPr lang="en-IN" sz="1500" dirty="0"/>
              <a:t>Agentic AI enables the College Admission Agent to function as an intelligent, interactive, and autonomous admission support system rather than a simple rule-based chatbot. Using IBM watsonx.ai and IBM Granite models, the system can understand student queries, retrieve relevant information from institutional documents, and generate accurate, context-aware responses in real time.</a:t>
            </a:r>
          </a:p>
          <a:p>
            <a:r>
              <a:rPr lang="en-IN" sz="1500" dirty="0"/>
              <a:t>The agent uses a Retrieval-Augmented Generation (RAG) approach to </a:t>
            </a:r>
            <a:r>
              <a:rPr lang="en-IN" sz="1500" dirty="0" err="1"/>
              <a:t>analyze</a:t>
            </a:r>
            <a:r>
              <a:rPr lang="en-IN" sz="1500" dirty="0"/>
              <a:t> admission brochures, fee structures, scholarship policies, hostel rules, placement details, and eligibility criteria. Instead of providing fixed responses, the AI dynamically retrieves relevant information and generates personalized answers based on the student’s query.</a:t>
            </a:r>
          </a:p>
          <a:p>
            <a:r>
              <a:rPr lang="en-IN" sz="1500" dirty="0"/>
              <a:t>The system performs multiple intelligent tasks such as:</a:t>
            </a:r>
          </a:p>
          <a:p>
            <a:pPr marL="285750" indent="-285750">
              <a:buFont typeface="Arial" panose="020B0604020202020204" pitchFamily="34" charset="0"/>
              <a:buChar char="•"/>
            </a:pPr>
            <a:r>
              <a:rPr lang="en-IN" sz="1500" dirty="0"/>
              <a:t>Understanding natural language admission queries </a:t>
            </a:r>
          </a:p>
          <a:p>
            <a:pPr marL="285750" indent="-285750">
              <a:buFont typeface="Arial" panose="020B0604020202020204" pitchFamily="34" charset="0"/>
              <a:buChar char="•"/>
            </a:pPr>
            <a:r>
              <a:rPr lang="en-IN" sz="1500" dirty="0"/>
              <a:t>Retrieving relevant information from uploaded documents </a:t>
            </a:r>
          </a:p>
          <a:p>
            <a:pPr marL="285750" indent="-285750">
              <a:buFont typeface="Arial" panose="020B0604020202020204" pitchFamily="34" charset="0"/>
              <a:buChar char="•"/>
            </a:pPr>
            <a:r>
              <a:rPr lang="en-IN" sz="1500" dirty="0"/>
              <a:t>Generating accurate and student-friendly responses </a:t>
            </a:r>
          </a:p>
          <a:p>
            <a:pPr marL="285750" indent="-285750">
              <a:buFont typeface="Arial" panose="020B0604020202020204" pitchFamily="34" charset="0"/>
              <a:buChar char="•"/>
            </a:pPr>
            <a:r>
              <a:rPr lang="en-IN" sz="1500" dirty="0"/>
              <a:t>Providing eligibility and fee-related guidance </a:t>
            </a:r>
          </a:p>
          <a:p>
            <a:pPr marL="285750" indent="-285750">
              <a:buFont typeface="Arial" panose="020B0604020202020204" pitchFamily="34" charset="0"/>
              <a:buChar char="•"/>
            </a:pPr>
            <a:r>
              <a:rPr lang="en-IN" sz="1500" dirty="0"/>
              <a:t>Assisting with scholarships, placements, and deadlines </a:t>
            </a:r>
          </a:p>
          <a:p>
            <a:pPr marL="285750" indent="-285750">
              <a:buFont typeface="Arial" panose="020B0604020202020204" pitchFamily="34" charset="0"/>
              <a:buChar char="•"/>
            </a:pPr>
            <a:r>
              <a:rPr lang="en-IN" sz="1500" dirty="0"/>
              <a:t>Maintaining conversational interaction for better user experience </a:t>
            </a:r>
          </a:p>
          <a:p>
            <a:r>
              <a:rPr lang="en-IN" sz="1500" dirty="0"/>
              <a:t>Agentic AI also improves decision-making by providing reliable and real-time information to prospective students. The system reduces manual workload for admission departments while enhancing accessibility, transparency, and efficiency in the admission process.</a:t>
            </a:r>
          </a:p>
          <a:p>
            <a:r>
              <a:rPr lang="en-IN" sz="1500" dirty="0"/>
              <a:t>Overall, Agentic AI transforms the solution into a smart digital admission assistant capable of delivering fast, accurate, and intelligent admission support for educational institutions.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078313"/>
          </a:xfrm>
          <a:prstGeom prst="rect">
            <a:avLst/>
          </a:prstGeom>
          <a:noFill/>
        </p:spPr>
        <p:txBody>
          <a:bodyPr wrap="square" rtlCol="0">
            <a:spAutoFit/>
          </a:bodyPr>
          <a:lstStyle/>
          <a:p>
            <a:pPr marL="285750" indent="-285750">
              <a:buFont typeface="Arial" panose="020B0604020202020204" pitchFamily="34" charset="0"/>
              <a:buChar char="•"/>
            </a:pPr>
            <a:r>
              <a:rPr lang="en-IN" sz="1800" dirty="0" err="1"/>
              <a:t>Langflow</a:t>
            </a:r>
            <a:r>
              <a:rPr lang="en-IN" sz="1800" dirty="0"/>
              <a:t> platform – For designing and orchestrating the RAG-based admission assistant workflow visually. </a:t>
            </a:r>
          </a:p>
          <a:p>
            <a:pPr marL="285750" indent="-285750">
              <a:buFont typeface="Arial" panose="020B0604020202020204" pitchFamily="34" charset="0"/>
              <a:buChar char="•"/>
            </a:pPr>
            <a:r>
              <a:rPr lang="en-IN" sz="1800" dirty="0"/>
              <a:t>IBM Granite model – </a:t>
            </a:r>
            <a:r>
              <a:rPr lang="en-IN" sz="1800" b="1" dirty="0" err="1"/>
              <a:t>ibm</a:t>
            </a:r>
            <a:r>
              <a:rPr lang="en-IN" sz="1800" b="1" dirty="0"/>
              <a:t>/granite-3.3-8b-instruct</a:t>
            </a:r>
            <a:r>
              <a:rPr lang="en-IN" sz="1800" dirty="0"/>
              <a:t> – Used for natural language understanding, reasoning, and intelligent response generation for admission-related queries. </a:t>
            </a:r>
          </a:p>
          <a:p>
            <a:pPr marL="285750" indent="-285750">
              <a:buFont typeface="Arial" panose="020B0604020202020204" pitchFamily="34" charset="0"/>
              <a:buChar char="•"/>
            </a:pPr>
            <a:r>
              <a:rPr lang="en-IN" sz="1800" dirty="0"/>
              <a:t>IBM Cloud Lite – Provides the infrastructure and environment to build, run, and integrate the AI-powered admission assistant efficiently. </a:t>
            </a:r>
          </a:p>
          <a:p>
            <a:pPr marL="285750" indent="-285750">
              <a:buFont typeface="Arial" panose="020B0604020202020204" pitchFamily="34" charset="0"/>
              <a:buChar char="•"/>
            </a:pPr>
            <a:r>
              <a:rPr lang="en-IN" sz="1800" dirty="0"/>
              <a:t>RAG (Retrieval-Augmented Generation) – Retrieves relevant information from institutional documents first and then generates accurate, context-aware responses for students. </a:t>
            </a:r>
          </a:p>
          <a:p>
            <a:pPr marL="285750" indent="-285750">
              <a:buFont typeface="Arial" panose="020B0604020202020204" pitchFamily="34" charset="0"/>
              <a:buChar char="•"/>
            </a:pPr>
            <a:r>
              <a:rPr lang="en-IN" sz="1800" dirty="0"/>
              <a:t>IBM watsonx.ai – Used for accessing IBM Granite foundation models, AI inference, and model integration. </a:t>
            </a:r>
          </a:p>
          <a:p>
            <a:pPr marL="285750" indent="-285750">
              <a:buFont typeface="Arial" panose="020B0604020202020204" pitchFamily="34" charset="0"/>
              <a:buChar char="•"/>
            </a:pPr>
            <a:r>
              <a:rPr lang="en-IN" sz="1800" dirty="0"/>
              <a:t>PDF Knowledge Base – Stores admission brochures, fee structures, scholarship details, hostel rules, and placement-related information for retrieval. </a:t>
            </a:r>
          </a:p>
          <a:p>
            <a:pPr marL="285750" indent="-285750">
              <a:buFont typeface="Arial" panose="020B0604020202020204" pitchFamily="34" charset="0"/>
              <a:buChar char="•"/>
            </a:pPr>
            <a:r>
              <a:rPr lang="en-IN" sz="1800" dirty="0"/>
              <a:t>Flask Framework – Acts as the backend server for handling API communication between the frontend and </a:t>
            </a:r>
            <a:r>
              <a:rPr lang="en-IN" sz="1800" dirty="0" err="1"/>
              <a:t>Langflow</a:t>
            </a:r>
            <a:r>
              <a:rPr lang="en-IN" sz="1800" dirty="0"/>
              <a:t> pipeline. </a:t>
            </a:r>
          </a:p>
          <a:p>
            <a:pPr marL="285750" indent="-285750">
              <a:buFont typeface="Arial" panose="020B0604020202020204" pitchFamily="34" charset="0"/>
              <a:buChar char="•"/>
            </a:pPr>
            <a:r>
              <a:rPr lang="en-IN" sz="1800" dirty="0"/>
              <a:t>HTML, CSS, and JavaScript – Used for developing the responsive and interactive frontend interface of the admission assistant. </a:t>
            </a:r>
          </a:p>
          <a:p>
            <a:pPr marL="285750" indent="-285750">
              <a:buFont typeface="Arial" panose="020B0604020202020204" pitchFamily="34" charset="0"/>
              <a:buChar char="•"/>
            </a:pPr>
            <a:r>
              <a:rPr lang="en-IN" sz="1800" dirty="0"/>
              <a:t>REST API Integration – Enables communication between the frontend, </a:t>
            </a:r>
            <a:r>
              <a:rPr lang="en-IN" sz="1800" dirty="0" err="1"/>
              <a:t>Langflow</a:t>
            </a:r>
            <a:r>
              <a:rPr lang="en-IN" sz="1800" dirty="0"/>
              <a:t> workflow, and IBM Granite AI services.</a:t>
            </a:r>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157180"/>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445008" y="618845"/>
            <a:ext cx="11301984" cy="6247864"/>
          </a:xfrm>
          <a:prstGeom prst="rect">
            <a:avLst/>
          </a:prstGeom>
          <a:noFill/>
        </p:spPr>
        <p:txBody>
          <a:bodyPr wrap="square" rtlCol="0">
            <a:spAutoFit/>
          </a:bodyPr>
          <a:lstStyle/>
          <a:p>
            <a:r>
              <a:rPr lang="en-IN" sz="1600" dirty="0"/>
              <a:t>The proposed College Admission Agent stands out by combining </a:t>
            </a:r>
            <a:r>
              <a:rPr lang="en-IN" sz="1600" b="1" dirty="0"/>
              <a:t>Agentic AI, Retrieval-Augmented Generation (RAG), IBM Granite Models, and real-time document-based assistance</a:t>
            </a:r>
            <a:r>
              <a:rPr lang="en-IN" sz="1600" dirty="0"/>
              <a:t> into a single intelligent admission support system.</a:t>
            </a:r>
          </a:p>
          <a:p>
            <a:r>
              <a:rPr lang="en-IN" sz="1600" b="1" dirty="0"/>
              <a:t>AI-Powered Admission Assistance</a:t>
            </a:r>
          </a:p>
          <a:p>
            <a:r>
              <a:rPr lang="en-IN" sz="1600" dirty="0"/>
              <a:t>Instead of a traditional rule-based chatbot, the system uses IBM Granite models to understand natural language queries and generate intelligent, context-aware responses for students.</a:t>
            </a:r>
          </a:p>
          <a:p>
            <a:r>
              <a:rPr lang="en-IN" sz="1600" b="1" dirty="0"/>
              <a:t>RAG-Based Accurate Responses</a:t>
            </a:r>
          </a:p>
          <a:p>
            <a:r>
              <a:rPr lang="en-IN" sz="1600" dirty="0"/>
              <a:t>The solution retrieves real-time information from institutional documents such as admission brochures, fee structures, scholarship policies, and hostel guidelines before generating answers, reducing misinformation and improving reliability.</a:t>
            </a:r>
          </a:p>
          <a:p>
            <a:r>
              <a:rPr lang="en-IN" sz="1600" b="1" dirty="0"/>
              <a:t>Smart Document Understanding</a:t>
            </a:r>
          </a:p>
          <a:p>
            <a:r>
              <a:rPr lang="en-IN" sz="1600" dirty="0"/>
              <a:t>The system can </a:t>
            </a:r>
            <a:r>
              <a:rPr lang="en-IN" sz="1600" dirty="0" err="1"/>
              <a:t>analyze</a:t>
            </a:r>
            <a:r>
              <a:rPr lang="en-IN" sz="1600" dirty="0"/>
              <a:t> and summarize data from multiple uploaded PDF documents, allowing students to receive quick and accurate admission-related guidance instantly.</a:t>
            </a:r>
          </a:p>
          <a:p>
            <a:r>
              <a:rPr lang="en-IN" sz="1600" b="1" dirty="0"/>
              <a:t>Interactive and Personalized Support</a:t>
            </a:r>
          </a:p>
          <a:p>
            <a:r>
              <a:rPr lang="en-IN" sz="1600" dirty="0"/>
              <a:t>Students can ask personalized queries regarding courses, eligibility, fees, scholarships, placements, and deadlines, and receive student-friendly responses in real time.</a:t>
            </a:r>
          </a:p>
          <a:p>
            <a:r>
              <a:rPr lang="en-IN" sz="1600" b="1" dirty="0"/>
              <a:t>Modern and Responsive User Interface</a:t>
            </a:r>
          </a:p>
          <a:p>
            <a:r>
              <a:rPr lang="en-IN" sz="1600" dirty="0"/>
              <a:t>The project includes a premium AI-powered web interface with interactive chat support, eligibility checking, fee visualization, and admission deadline tracking for enhanced user experience.</a:t>
            </a:r>
          </a:p>
          <a:p>
            <a:r>
              <a:rPr lang="en-IN" sz="1600" b="1" dirty="0"/>
              <a:t>IBM Granite + </a:t>
            </a:r>
            <a:r>
              <a:rPr lang="en-IN" sz="1600" b="1" dirty="0" err="1"/>
              <a:t>Langflow</a:t>
            </a:r>
            <a:r>
              <a:rPr lang="en-IN" sz="1600" b="1" dirty="0"/>
              <a:t> Integration</a:t>
            </a:r>
          </a:p>
          <a:p>
            <a:r>
              <a:rPr lang="en-IN" sz="1600" dirty="0"/>
              <a:t>The solution integrates IBM watsonx.ai, IBM Granite foundation models, and </a:t>
            </a:r>
            <a:r>
              <a:rPr lang="en-IN" sz="1600" dirty="0" err="1"/>
              <a:t>Langflow</a:t>
            </a:r>
            <a:r>
              <a:rPr lang="en-IN" sz="1600" dirty="0"/>
              <a:t> orchestration to create a scalable and intelligent AI-driven admission platform.</a:t>
            </a:r>
          </a:p>
          <a:p>
            <a:r>
              <a:rPr lang="en-IN" sz="1600" b="1" dirty="0"/>
              <a:t>Reduced Administrative Workload</a:t>
            </a:r>
          </a:p>
          <a:p>
            <a:r>
              <a:rPr lang="en-IN" sz="1600" dirty="0"/>
              <a:t>The system automates repetitive admission inquiries, helping institutions improve operational efficiency while providing 24/7 support to prospective students.</a:t>
            </a:r>
          </a:p>
          <a:p>
            <a:r>
              <a:rPr lang="en-IN" sz="1600" dirty="0"/>
              <a:t>This makes the solution a </a:t>
            </a:r>
            <a:r>
              <a:rPr lang="en-IN" sz="1600" b="1" dirty="0"/>
              <a:t>smart, scalable, and intelligent digital admission assistant</a:t>
            </a:r>
            <a:r>
              <a:rPr lang="en-IN" sz="1600" dirty="0"/>
              <a:t>, rather than just a basic informational chatbot.</a:t>
            </a:r>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hlinkClick r:id="rId3"/>
              </a:rPr>
              <a:t> https://github.com/dhanish0711/College-Admission-Agent</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769019" y="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769019" y="704017"/>
            <a:ext cx="10653962" cy="5756744"/>
          </a:xfrm>
          <a:prstGeom prst="rect">
            <a:avLst/>
          </a:prstGeom>
          <a:noFill/>
          <a:ln>
            <a:noFill/>
          </a:ln>
        </p:spPr>
        <p:txBody>
          <a:bodyPr spcFirstLastPara="1" wrap="square" lIns="0" tIns="0" rIns="0" bIns="0" anchor="t" anchorCtr="0">
            <a:noAutofit/>
          </a:bodyPr>
          <a:lstStyle/>
          <a:p>
            <a:r>
              <a:rPr lang="en-IN" sz="1500" b="1" dirty="0"/>
              <a:t>1. AI-Powered Voice Assistant &amp; Multilingual Support –</a:t>
            </a:r>
          </a:p>
          <a:p>
            <a:r>
              <a:rPr lang="en-IN" sz="1500" dirty="0"/>
              <a:t>The system can be enhanced with voice-enabled interaction and multilingual support so that students can communicate naturally in their preferred language. This will improve accessibility and provide a better user experience for students from diverse linguistic backgrounds.</a:t>
            </a:r>
          </a:p>
          <a:p>
            <a:r>
              <a:rPr lang="en-IN" sz="1500" b="1" dirty="0"/>
              <a:t>2. Integration with College ERP Systems –</a:t>
            </a:r>
          </a:p>
          <a:p>
            <a:r>
              <a:rPr lang="en-IN" sz="1500" dirty="0"/>
              <a:t>The admission agent can be integrated with institutional ERP and student management systems to provide real-time admission status, application tracking, fee payment updates, and personalized student information.</a:t>
            </a:r>
          </a:p>
          <a:p>
            <a:r>
              <a:rPr lang="en-IN" sz="1500" b="1" dirty="0"/>
              <a:t>3. Advanced RAG and Vector Database Integration –</a:t>
            </a:r>
          </a:p>
          <a:p>
            <a:r>
              <a:rPr lang="en-IN" sz="1500" dirty="0"/>
              <a:t>Future versions can include advanced vector databases such as FAISS or </a:t>
            </a:r>
            <a:r>
              <a:rPr lang="en-IN" sz="1500" dirty="0" err="1"/>
              <a:t>ChromaDB</a:t>
            </a:r>
            <a:r>
              <a:rPr lang="en-IN" sz="1500" dirty="0"/>
              <a:t> for more efficient document retrieval, faster responses, and improved contextual accuracy.</a:t>
            </a:r>
          </a:p>
          <a:p>
            <a:r>
              <a:rPr lang="en-IN" sz="1500" b="1" dirty="0"/>
              <a:t>4. Personalized Course Recommendation System –</a:t>
            </a:r>
          </a:p>
          <a:p>
            <a:r>
              <a:rPr lang="en-IN" sz="1500" dirty="0"/>
              <a:t>The system can </a:t>
            </a:r>
            <a:r>
              <a:rPr lang="en-IN" sz="1500" dirty="0" err="1"/>
              <a:t>analyze</a:t>
            </a:r>
            <a:r>
              <a:rPr lang="en-IN" sz="1500" dirty="0"/>
              <a:t> student interests, academic performance, and career goals to recommend suitable courses, specializations, and career paths.</a:t>
            </a:r>
          </a:p>
          <a:p>
            <a:r>
              <a:rPr lang="en-IN" sz="1500" b="1" dirty="0"/>
              <a:t>5. Mobile Application Deployment –</a:t>
            </a:r>
          </a:p>
          <a:p>
            <a:r>
              <a:rPr lang="en-IN" sz="1500" dirty="0"/>
              <a:t>The admission assistant can be expanded into a dedicated Android/iOS mobile application to provide students with seamless access anytime and anywhere.</a:t>
            </a:r>
          </a:p>
          <a:p>
            <a:r>
              <a:rPr lang="en-IN" sz="1500" b="1" dirty="0"/>
              <a:t>6. Real-Time Notification &amp; Reminder System –</a:t>
            </a:r>
          </a:p>
          <a:p>
            <a:r>
              <a:rPr lang="en-IN" sz="1500" dirty="0"/>
              <a:t>The platform can send automated notifications regarding admission deadlines, exam dates, </a:t>
            </a:r>
            <a:r>
              <a:rPr lang="en-IN" sz="1500" dirty="0" err="1"/>
              <a:t>counseling</a:t>
            </a:r>
            <a:r>
              <a:rPr lang="en-IN" sz="1500" dirty="0"/>
              <a:t> rounds, fee payments, and scholarship announcements.</a:t>
            </a:r>
          </a:p>
          <a:p>
            <a:r>
              <a:rPr lang="en-IN" sz="1500" b="1" dirty="0"/>
              <a:t>7. Integration with Voice and Video Support –</a:t>
            </a:r>
          </a:p>
          <a:p>
            <a:r>
              <a:rPr lang="en-IN" sz="1500" dirty="0"/>
              <a:t>Future improvements may include AI-powered video </a:t>
            </a:r>
            <a:r>
              <a:rPr lang="en-IN" sz="1500" dirty="0" err="1"/>
              <a:t>counseling</a:t>
            </a:r>
            <a:r>
              <a:rPr lang="en-IN" sz="1500" dirty="0"/>
              <a:t> and voice interaction features for a more interactive and human-like admission guidance experience.</a:t>
            </a:r>
          </a:p>
          <a:p>
            <a:r>
              <a:rPr lang="en-IN" sz="1500" b="1" dirty="0"/>
              <a:t>8. Scalable Enterprise-Level Deployment –</a:t>
            </a:r>
          </a:p>
          <a:p>
            <a:r>
              <a:rPr lang="en-IN" sz="1500" dirty="0"/>
              <a:t>The system can be deployed at a larger scale across multiple colleges and universities using IBM Cloud infrastructure for centralized AI-based admission support.</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1215</TotalTime>
  <Words>1721</Words>
  <Application>Microsoft Office PowerPoint</Application>
  <PresentationFormat>Widescreen</PresentationFormat>
  <Paragraphs>133</Paragraphs>
  <Slides>14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Dhanish Ladwani</cp:lastModifiedBy>
  <cp:revision>24</cp:revision>
  <dcterms:created xsi:type="dcterms:W3CDTF">2025-07-08T05:06:56Z</dcterms:created>
  <dcterms:modified xsi:type="dcterms:W3CDTF">2026-06-05T19:57:29Z</dcterms:modified>
</cp:coreProperties>
</file>